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1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nodes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863840" y="36576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21488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 Cultural</a:t>
            </a:r>
            <a:endParaRPr lang="en-US" sz="52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30632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Cartographier et découvrir la vie culturelle pertinente dans la région parisienne à partir des données Instagram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Merchán Medina   ·   Sorbonne Data Analytics   ·   Promotion 2025 –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inst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vie culturelle est dispersée, pas invisible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60020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vie culturelle latino-américaine, et plus largement en région parisienne, se répartit sur des centaines de comptes Instagram — associations, lieux indépendants, attachés culturels.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 lisible surtout par ceux qui suivent déjà les bons comptes — invisible pour presque tout le monde d'autre.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i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mémoire pose la question : cette structure peut-elle être cartographiée, analysée et rendue découvrable ?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310896" cy="310896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7" name="Shape 4"/>
          <p:cNvSpPr/>
          <p:nvPr/>
        </p:nvSpPr>
        <p:spPr>
          <a:xfrm>
            <a:off x="8503920" y="12801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Shape 5"/>
          <p:cNvSpPr/>
          <p:nvPr/>
        </p:nvSpPr>
        <p:spPr>
          <a:xfrm>
            <a:off x="9692640" y="1828800"/>
            <a:ext cx="384048" cy="384048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9" name="Shape 6"/>
          <p:cNvSpPr/>
          <p:nvPr/>
        </p:nvSpPr>
        <p:spPr>
          <a:xfrm>
            <a:off x="7863840" y="2468880"/>
            <a:ext cx="219456" cy="21945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Shape 7"/>
          <p:cNvSpPr/>
          <p:nvPr/>
        </p:nvSpPr>
        <p:spPr>
          <a:xfrm>
            <a:off x="10424160" y="1371600"/>
            <a:ext cx="256032" cy="256032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0" y="2834640"/>
            <a:ext cx="292608" cy="292608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12" name="Shape 9"/>
          <p:cNvSpPr/>
          <p:nvPr/>
        </p:nvSpPr>
        <p:spPr>
          <a:xfrm>
            <a:off x="7498080" y="3291840"/>
            <a:ext cx="182880" cy="18288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3" name="Shape 10"/>
          <p:cNvSpPr/>
          <p:nvPr/>
        </p:nvSpPr>
        <p:spPr>
          <a:xfrm>
            <a:off x="10698480" y="2743200"/>
            <a:ext cx="219456" cy="21945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Shape 11"/>
          <p:cNvSpPr/>
          <p:nvPr/>
        </p:nvSpPr>
        <p:spPr>
          <a:xfrm>
            <a:off x="8595360" y="3840480"/>
            <a:ext cx="365760" cy="36576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5" name="Shape 12"/>
          <p:cNvSpPr/>
          <p:nvPr/>
        </p:nvSpPr>
        <p:spPr>
          <a:xfrm>
            <a:off x="9966960" y="4023360"/>
            <a:ext cx="201168" cy="201168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16" name="Shape 13"/>
          <p:cNvSpPr/>
          <p:nvPr/>
        </p:nvSpPr>
        <p:spPr>
          <a:xfrm>
            <a:off x="7955280" y="457200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Shape 14"/>
          <p:cNvSpPr/>
          <p:nvPr/>
        </p:nvSpPr>
        <p:spPr>
          <a:xfrm>
            <a:off x="10972800" y="4480560"/>
            <a:ext cx="274320" cy="27432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8" name="Shape 15"/>
          <p:cNvSpPr/>
          <p:nvPr/>
        </p:nvSpPr>
        <p:spPr>
          <a:xfrm>
            <a:off x="9052560" y="5120640"/>
            <a:ext cx="201168" cy="201168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19" name="Shape 16"/>
          <p:cNvSpPr/>
          <p:nvPr/>
        </p:nvSpPr>
        <p:spPr>
          <a:xfrm>
            <a:off x="10241280" y="5394960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31520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centaines de comptes. Aucune carte commune.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inst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9601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 : profils et publications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EDEDE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8013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1_harvest_ig_profiles.py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2240280"/>
            <a:ext cx="4709160" cy="1600200"/>
          </a:xfrm>
          <a:prstGeom prst="roundRect">
            <a:avLst>
              <a:gd name="adj" fmla="val 3429"/>
            </a:avLst>
          </a:prstGeom>
          <a:solidFill>
            <a:srgbClr val="1B1F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280" y="2350008"/>
            <a:ext cx="43434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ACTOR_ID = "apify/instagram-profile-scraper"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= client.actor(ACTOR_ID).call(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run_input={"usernames": [username],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"resultsType": "details"}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9776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data_raw/profile_&lt;user&gt;.json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F0DCD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37960" y="18013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1_harvest_ig_posts.py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37960" y="2240280"/>
            <a:ext cx="4709160" cy="1600200"/>
          </a:xfrm>
          <a:prstGeom prst="roundRect">
            <a:avLst>
              <a:gd name="adj" fmla="val 3429"/>
            </a:avLst>
          </a:prstGeom>
          <a:solidFill>
            <a:srgbClr val="1B1F3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720840" y="2350008"/>
            <a:ext cx="43434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ACTOR_ID = "apify/instagram-post-scraper"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run_input =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"username": [username], "resultsLimit": 50,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"onlyPostsNewerThan": f"{days} days",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9776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data_raw/posts_&lt;user&gt;.json (fenêtre dynamique par compte)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: liste de comptes (fichiers seeds JSON)   ·   Coût estimé et confirmé avant chaque exécution   ·   Idempotent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9601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du graphe (Neo4j)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EDEDE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7190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Nœuds créés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1031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:Account · :Post · :Hashtag · :Location · :Track · :Comment · :IgtvVideo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0DCD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37960" y="17190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 créées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21031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· HAS_HASHTAG · MENTIONS · TAGS_USER · COAUTHORED_BY · LOCATED_AT · RELATED_TO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38328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1B1F3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3493008"/>
            <a:ext cx="105156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(a:Account {username: $username})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CREATE SET a.firstSeenAt = datetime()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a.lastUpdatedAt = datetime(),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a.followersCount = $followersCount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(a)-[:PUBLISHED]-&gt;(p:Post {id: $id})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(p)-[:HAS_HASHTAG]-&gt;(h:Hashtag {name: $tag})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: JSON de data_raw/   ·   Sortie : graphe Neo4j (MERGE — jamais de doublon en re-exécutant)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9601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du réseau (igraph / leidenalg)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074920" cy="3017520"/>
          </a:xfrm>
          <a:prstGeom prst="roundRect">
            <a:avLst>
              <a:gd name="adj" fmla="val 2424"/>
            </a:avLst>
          </a:prstGeom>
          <a:solidFill>
            <a:srgbClr val="EDEDE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80136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24028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exact — importance dans le réseau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 exact — position de pont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Leiden (γ=0.5/1.0/1.5) — détection de communautés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k-core, participation coefficient, E-I index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080760" y="1600200"/>
            <a:ext cx="5394960" cy="3017520"/>
          </a:xfrm>
          <a:prstGeom prst="roundRect">
            <a:avLst>
              <a:gd name="adj" fmla="val 1818"/>
            </a:avLst>
          </a:prstGeom>
          <a:solidFill>
            <a:srgbClr val="1B1F3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63640" y="1709928"/>
            <a:ext cx="502920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pagerank    = g.pagerank(damping=0.85,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weights="weight")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betweenness = g.betweenness(directed=True)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= la.find_partition(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g_und, la.RBConfigurationVertexPartition,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resolution_parameter=gamma, seed=42,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: graphe exporté en CSV   ·   Sortie : métriques réécrites sur :Account   ·   100% local — pas de plugin GDS, pas de dépendance réseau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457200" cy="45720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w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69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0233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d'événements : 3 couches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40080" y="1188720"/>
            <a:ext cx="3538728" cy="1874520"/>
          </a:xfrm>
          <a:prstGeom prst="roundRect">
            <a:avLst>
              <a:gd name="adj" fmla="val 3902"/>
            </a:avLst>
          </a:prstGeom>
          <a:solidFill>
            <a:srgbClr val="EDEDED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137160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7" name="Image 1" descr="icons/magnif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149230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335024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Couche 1 — Filtre sémantique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196596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3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paraphrase-multilingual-MiniLM-L12-v2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33172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Similarité cosinus contre ~100 phrases de référence — plus proche voisin, un filtre de coût.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453128" y="1188720"/>
            <a:ext cx="3538728" cy="1874520"/>
          </a:xfrm>
          <a:prstGeom prst="roundRect">
            <a:avLst>
              <a:gd name="adj" fmla="val 3902"/>
            </a:avLst>
          </a:prstGeom>
          <a:solidFill>
            <a:srgbClr val="F0DCD3"/>
          </a:solidFill>
          <a:ln/>
        </p:spPr>
      </p:sp>
      <p:sp>
        <p:nvSpPr>
          <p:cNvPr id="12" name="Shape 8"/>
          <p:cNvSpPr/>
          <p:nvPr/>
        </p:nvSpPr>
        <p:spPr>
          <a:xfrm>
            <a:off x="4681728" y="137160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3" name="Image 2" descr="icon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429" y="149230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21808" y="1335024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Couche 2 — Est-ce un événement ?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4681728" y="196596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3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multilingual-MiniLMv2-L6-mnli-xnli (NLI)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4681728" y="233172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logique : le texte implique-t-il l'hypothèse « ceci annonce un événement » ? Relation dirigée, pas une distance.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266176" y="1188720"/>
            <a:ext cx="3538728" cy="1874520"/>
          </a:xfrm>
          <a:prstGeom prst="roundRect">
            <a:avLst>
              <a:gd name="adj" fmla="val 3902"/>
            </a:avLst>
          </a:prstGeom>
          <a:solidFill>
            <a:srgbClr val="EDEDED"/>
          </a:solidFill>
          <a:ln/>
        </p:spPr>
      </p:sp>
      <p:sp>
        <p:nvSpPr>
          <p:cNvPr id="18" name="Shape 13"/>
          <p:cNvSpPr/>
          <p:nvPr/>
        </p:nvSpPr>
        <p:spPr>
          <a:xfrm>
            <a:off x="8494776" y="137160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9" name="Image 3" descr="icons/w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5477" y="1492301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34856" y="1335024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Couche 3 — Extraction LLM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8494776" y="196596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3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· Groq · Google · Cerebras · DeepSeek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8494776" y="233172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 titre, date, lieu, type — et décide si l'événement est créé ou non.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40080" y="3246120"/>
            <a:ext cx="11164824" cy="868680"/>
          </a:xfrm>
          <a:prstGeom prst="roundRect">
            <a:avLst>
              <a:gd name="adj" fmla="val 7368"/>
            </a:avLst>
          </a:prstGeom>
          <a:solidFill>
            <a:srgbClr val="1B1F3B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914400" y="3319272"/>
            <a:ext cx="1061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différence clé 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couches utilisent des embeddings, mais autrement — la Couche 1 mesure une proximité sémantique (plus proche voisin) ; la Couche 2 mesure une implication logique dirigée (entailment) entre le texte et une hypothèse, une classification et non une distance.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sortie JSON (Couche 3)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40080" y="4572000"/>
            <a:ext cx="11164824" cy="1417320"/>
          </a:xfrm>
          <a:prstGeom prst="roundRect">
            <a:avLst>
              <a:gd name="adj" fmla="val 3871"/>
            </a:avLst>
          </a:prstGeom>
          <a:solidFill>
            <a:srgbClr val="1B1F3B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22960" y="4681728"/>
            <a:ext cx="1079906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"is_public_invitation": true, "is_upcoming": true,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"musical", "clean_date": "2026-09-15",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"city": "Paris", "title": "Concert de jazz au 104",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"title_fr": "Concert de jazz au 104",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"price_range": "gratuit"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640080" y="6080760"/>
            <a:ext cx="11164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Ensuite, 4_enrich_events_resolve.py fusionne les doublons par similarité d'embedding (Couche 1) — sans nouvel appel au LLM.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maplo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9601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Géocodification (Nominatim)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EDEDE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8013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Entrée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1488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lieu + indice de ville — extrait par le LLM à la Couche 3, pas une valeur fixe.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2971800"/>
            <a:ext cx="4709160" cy="1463040"/>
          </a:xfrm>
          <a:prstGeom prst="roundRect">
            <a:avLst>
              <a:gd name="adj" fmla="val 3750"/>
            </a:avLst>
          </a:prstGeom>
          <a:solidFill>
            <a:srgbClr val="1B1F3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97280" y="3081528"/>
            <a:ext cx="4343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geocoder.geocode(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f"{name}, {city_hint}",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addressdetails=True,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F0DCD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37960" y="18013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537960" y="2148840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1B1F3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720840" y="22585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"lat": 48.8583, "lon": 2.3470,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"city": "Paris", "country": "France",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"arrondissement": "Paris 1er"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6576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géocodification échoue : lat/lon = null — jamais une coordonnée inventée.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l'export : review_events.py (Streamlit) — Diego approuve, modifie ou rejette chaque événement à la main.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9601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 : export + pages SEO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EDEDE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8013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5_export_dashboard_data.py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194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→ site/data.json — le seul fichier dont le site statique a besoin, sans backend.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14400" y="2834640"/>
            <a:ext cx="4709160" cy="1600200"/>
          </a:xfrm>
          <a:prstGeom prst="roundRect">
            <a:avLst>
              <a:gd name="adj" fmla="val 3429"/>
            </a:avLst>
          </a:prstGeom>
          <a:solidFill>
            <a:srgbClr val="1B1F3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97280" y="2944368"/>
            <a:ext cx="43434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NOT 'Rejected' IN labels(e)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NOT 'PendingReview' IN labels(e)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e.isPublicInvitation = true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e.isUpcoming = true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F0DCD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37960" y="18013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6_generate_seo_pages.py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21945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data.json → pages HTML statiques + JSON-LD (schema.org Event) — car GPTBot/ClaudeBot n'exécutent pas JavaScript.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320040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catégorie sans assez d'événements n'a pas de page — contenu "pauvre" évité par conception (--min-events).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: cd site &amp;&amp; npx wrangler deploy — la seule façon de vraiment publier sur le site en ligne.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10607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collaboration homme-IA, pas une automatisation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EDEDED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1691640"/>
            <a:ext cx="594360" cy="59436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7" name="Image 1" descr="icons/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1834286"/>
            <a:ext cx="309067" cy="30906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74650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Délégué à Claude Code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37744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Traduire une direction en options techniques concrètes, avec leurs compromis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Édition de fichiers, refactors, commits — de bout en bout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Revue de littérature : ~40 références candidates assemblées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Documentation continue (CLAUDE.md), ré-onboarding après chaque reset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63640" y="141732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0DCD3"/>
          </a:solidFill>
          <a:ln/>
        </p:spPr>
      </p:sp>
      <p:sp>
        <p:nvSpPr>
          <p:cNvPr id="11" name="Shape 7"/>
          <p:cNvSpPr/>
          <p:nvPr/>
        </p:nvSpPr>
        <p:spPr>
          <a:xfrm>
            <a:off x="6537960" y="1691640"/>
            <a:ext cx="594360" cy="59436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2" name="Image 2" descr="icons/user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606" y="1834286"/>
            <a:ext cx="309067" cy="309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69480" y="174650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Resté chez l'auteur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537960" y="237744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Sélection finale parmi les références proposées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classification en aveugle derrière les scores F1 (§ suivant) — juger si un post décrit un événement culturel réel exige une familiarité avec la communauté que l'assistant n'a pas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Valider ou rejeter chaque fusion de doublons, chaque événement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 qui tient dans les deux sens : le travail entièrement spécifiable (code, texte rédigé, documentation) a été proposé par l'assistant — le jugement situé est resté chez l'auteur.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57790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02336"/>
            <a:ext cx="10607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Traçabilité : décisions, runs, et quelques principes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40080" y="12344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EDEDE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3990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docs/decisions_es.md — DD-001 à DD-075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80136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choix non trivial, journalisé au moment où il est pris : alternatives considérées, preuve, résultat.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2344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EDEDE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37960" y="13990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3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docs/runs_log_es.md — RUN-001 à RUN-021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180136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exécution réelle contre le graphe : date, paramètres, résultats — distingue un changement de données d'un changement de logique.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2583180" cy="1737360"/>
          </a:xfrm>
          <a:prstGeom prst="roundRect">
            <a:avLst>
              <a:gd name="adj" fmla="val 4211"/>
            </a:avLst>
          </a:prstGeom>
          <a:solidFill>
            <a:srgbClr val="EDEDED"/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" y="3044952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3" name="Image 1" descr="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154680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22960" y="3593592"/>
            <a:ext cx="22174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3886200"/>
            <a:ext cx="22174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partout, sentinelles (eventExtracted, lat) — relancer un script deux fois ne duplique rien.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406140" y="2880360"/>
            <a:ext cx="2583180" cy="1737360"/>
          </a:xfrm>
          <a:prstGeom prst="roundRect">
            <a:avLst>
              <a:gd name="adj" fmla="val 4211"/>
            </a:avLst>
          </a:prstGeom>
          <a:solidFill>
            <a:srgbClr val="F0DCD3"/>
          </a:solidFill>
          <a:ln/>
        </p:spPr>
      </p:sp>
      <p:sp>
        <p:nvSpPr>
          <p:cNvPr id="17" name="Shape 13"/>
          <p:cNvSpPr/>
          <p:nvPr/>
        </p:nvSpPr>
        <p:spPr>
          <a:xfrm>
            <a:off x="3589020" y="3044952"/>
            <a:ext cx="457200" cy="45720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8" name="Image 2" descr="icons/magnif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748" y="3154680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589020" y="3593592"/>
            <a:ext cx="22174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Dry-run d'abord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3589020" y="3886200"/>
            <a:ext cx="22174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--dry-run exécute la vraie logique dans une transaction annulée : des comptes exacts, pas estimés.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172200" y="2880360"/>
            <a:ext cx="2583180" cy="1737360"/>
          </a:xfrm>
          <a:prstGeom prst="roundRect">
            <a:avLst>
              <a:gd name="adj" fmla="val 4211"/>
            </a:avLst>
          </a:prstGeom>
          <a:solidFill>
            <a:srgbClr val="EDEDED"/>
          </a:solidFill>
          <a:ln/>
        </p:spPr>
      </p:sp>
      <p:sp>
        <p:nvSpPr>
          <p:cNvPr id="22" name="Shape 17"/>
          <p:cNvSpPr/>
          <p:nvPr/>
        </p:nvSpPr>
        <p:spPr>
          <a:xfrm>
            <a:off x="6355080" y="3044952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3" name="Image 3" descr="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3154680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355080" y="3593592"/>
            <a:ext cx="22174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Fail-closed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355080" y="3886200"/>
            <a:ext cx="22174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un « oui » explicite (photoPermission) ou une invitation confirmée (is_public_invitation), le système ne montre/ne crée rien.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8938260" y="2880360"/>
            <a:ext cx="2583180" cy="1737360"/>
          </a:xfrm>
          <a:prstGeom prst="roundRect">
            <a:avLst>
              <a:gd name="adj" fmla="val 4211"/>
            </a:avLst>
          </a:prstGeom>
          <a:solidFill>
            <a:srgbClr val="F0DCD3"/>
          </a:solidFill>
          <a:ln/>
        </p:spPr>
      </p:sp>
      <p:sp>
        <p:nvSpPr>
          <p:cNvPr id="27" name="Shape 21"/>
          <p:cNvSpPr/>
          <p:nvPr/>
        </p:nvSpPr>
        <p:spPr>
          <a:xfrm>
            <a:off x="9121140" y="3044952"/>
            <a:ext cx="457200" cy="45720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28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0868" y="3154680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121140" y="3593592"/>
            <a:ext cx="22174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Non-destructif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9121140" y="3886200"/>
            <a:ext cx="22174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de DELETE — seulement des labels (:PendingReview, :Rejected). Seule exception, documentée : le dédoublonneur d'événements.</a:t>
            </a:r>
            <a:endParaRPr lang="en-US" sz="950" dirty="0"/>
          </a:p>
        </p:txBody>
      </p:sp>
      <p:sp>
        <p:nvSpPr>
          <p:cNvPr id="31" name="Text 24"/>
          <p:cNvSpPr txBox="1"/>
          <p:nvPr/>
        </p:nvSpPr>
        <p:spPr>
          <a:xfrm>
            <a:off x="640080" y="4800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discipline est ce qui permet d'affirmer, avec preuve : </a:t>
            </a:r>
            <a:pPr algn="ctr" indent="0" marL="0">
              <a:buNone/>
            </a:pPr>
            <a:r>
              <a:rPr lang="en-US" sz="12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58% → 96.7%</a:t>
            </a:r>
            <a:pPr algn="ctr"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après trois cycles d'évaluation en aveugle.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Là où ce n'est pas fiable — documenté, pas caché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1" descr="icons/maploc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1919143"/>
            <a:ext cx="294803" cy="29480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17556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Géocodification, fausse précision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800600" y="1755648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un événement sur sept n'a pas de coordonnées utilisables ; le repli sur une ville donne une position plausible mais fausse — préférence pour l'exclusion de la carte plutôt que l'approximation.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40080" y="283464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0" name="Image 2" descr="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2970703"/>
            <a:ext cx="294803" cy="29480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17320" y="28072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dates, composant le plus fragile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4800600" y="2807208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inventées à partir d'un simple mois, une saison « 26/27 » lue comme une date, des événements datés 2036/2052/2090 — tous des échecs silencieux, trouvés par inspection manuelle.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40080" y="388620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4" name="Image 3" descr="icons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4022263"/>
            <a:ext cx="294803" cy="29480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17320" y="38587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LLM incohérente en marge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4800600" y="3858768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publications quasi identiques ont reçu des verdicts opposés (RUN-020), sans cause de code identifiable.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40080" y="493776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8" name="Image 4" descr="icons/instagr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5073823"/>
            <a:ext cx="294803" cy="29480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17320" y="491032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seule plateforme source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4800600" y="4910328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organisations qui communiquent ailleurs restent structurellement invisibles ; la découverte automatique laisse aussi filtrer des comptes hors zone géographique.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10058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Développements futurs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011680"/>
            <a:ext cx="685800" cy="68580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7" name="Image 1" descr="icons/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176272"/>
            <a:ext cx="356616" cy="3566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9933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Ré-analyser le réseau curé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783080" y="2606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motif observé une seule fois (RUN-015 : un cœur institutionnel de pontage) tient-il sur le graphe curé d'aujourd'hui ?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63640" y="173736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/>
        </p:spPr>
      </p:sp>
      <p:sp>
        <p:nvSpPr>
          <p:cNvPr id="11" name="Shape 7"/>
          <p:cNvSpPr/>
          <p:nvPr/>
        </p:nvSpPr>
        <p:spPr>
          <a:xfrm>
            <a:off x="6537960" y="2011680"/>
            <a:ext cx="685800" cy="68580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2" name="Image 2" descr="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2176272"/>
            <a:ext cx="356616" cy="3566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06640" y="19933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nouveau classificateur de comptes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406640" y="2606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des dimensions explicites de géographie et de pertinence culturelle, si la découverte doit un jour dépasser ce que la curation manuelle peut réviser.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38862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/>
        </p:spPr>
      </p:sp>
      <p:sp>
        <p:nvSpPr>
          <p:cNvPr id="16" name="Shape 11"/>
          <p:cNvSpPr/>
          <p:nvPr/>
        </p:nvSpPr>
        <p:spPr>
          <a:xfrm>
            <a:off x="914400" y="4160520"/>
            <a:ext cx="685800" cy="68580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7" name="Image 3" descr="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325112"/>
            <a:ext cx="356616" cy="35661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783080" y="41422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écrans du site restants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783080" y="4754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carte cliquable par arrondissement/commune, une vue d'exploration, des pages de profil d'organisateur.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63640" y="38862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/>
        </p:spPr>
      </p:sp>
      <p:sp>
        <p:nvSpPr>
          <p:cNvPr id="21" name="Shape 15"/>
          <p:cNvSpPr/>
          <p:nvPr/>
        </p:nvSpPr>
        <p:spPr>
          <a:xfrm>
            <a:off x="6537960" y="4160520"/>
            <a:ext cx="685800" cy="68580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22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4325112"/>
            <a:ext cx="356616" cy="35661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406640" y="41422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 en une seule commande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7406640" y="4754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Fusionner export, pages SEO et déploiement (DD-053), pour que publier cesse d'être l'étape qu'on oublie.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nodes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1097280" y="219456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Merci.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0" y="4937760"/>
            <a:ext cx="457200" cy="457200"/>
          </a:xfrm>
          <a:prstGeom prst="ellipse">
            <a:avLst/>
          </a:prstGeom>
          <a:solidFill>
            <a:srgbClr val="2A2F5C"/>
          </a:solidFill>
          <a:ln/>
        </p:spPr>
      </p:sp>
      <p:pic>
        <p:nvPicPr>
          <p:cNvPr id="6" name="Image 1" descr="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28" y="504748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337560" y="4937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hub-cultural-du.diegomerchanm.workers.dev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0" y="5577840"/>
            <a:ext cx="457200" cy="457200"/>
          </a:xfrm>
          <a:prstGeom prst="ellipse">
            <a:avLst/>
          </a:prstGeom>
          <a:solidFill>
            <a:srgbClr val="2A2F5C"/>
          </a:solidFill>
          <a:ln/>
        </p:spPr>
      </p:sp>
      <p:pic>
        <p:nvPicPr>
          <p:cNvPr id="9" name="Image 2" descr="icons/gith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928" y="568756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337560" y="5577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github.com/diegomerchanm/hub-cultural-du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2743200" y="6217920"/>
            <a:ext cx="457200" cy="457200"/>
          </a:xfrm>
          <a:prstGeom prst="ellipse">
            <a:avLst/>
          </a:prstGeom>
          <a:solidFill>
            <a:srgbClr val="2A2F5C"/>
          </a:solidFill>
          <a:ln/>
        </p:spPr>
      </p:sp>
      <p:pic>
        <p:nvPicPr>
          <p:cNvPr id="12" name="Image 3" descr="icons/envelo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632764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337560" y="6217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diegomerchanm@gmail.com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2026-09-06T11:10:09Z</dcterms:created>
  <dcterms:modified xsi:type="dcterms:W3CDTF">2026-09-06T11:10:09Z</dcterms:modified>
</cp:coreProperties>
</file>