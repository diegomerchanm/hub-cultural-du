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Cambria"/>
              </a:rPr>
              <a:t>Catégories d'événements (% du catalogue)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du catalogue</c:v>
                </c:pt>
              </c:strCache>
            </c:strRef>
          </c:tx>
          <c:spPr>
            <a:solidFill>
              <a:srgbClr val="C150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Musique</c:v>
                  </c:pt>
                  <c:pt idx="1">
                    <c:v>Événements communautaires</c:v>
                  </c:pt>
                  <c:pt idx="2">
                    <c:v>Formations et ateliers</c:v>
                  </c:pt>
                  <c:pt idx="3">
                    <c:v>Arts visuels</c:v>
                  </c:pt>
                  <c:pt idx="4">
                    <c:v>Institutionnel</c:v>
                  </c:pt>
                  <c:pt idx="5">
                    <c:v>Gastronomie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5.9</c:v>
                </c:pt>
                <c:pt idx="1">
                  <c:v>7.6</c:v>
                </c:pt>
                <c:pt idx="2">
                  <c:v>9.9</c:v>
                </c:pt>
                <c:pt idx="3">
                  <c:v>11.6</c:v>
                </c:pt>
                <c:pt idx="4">
                  <c:v>17.6</c:v>
                </c:pt>
                <c:pt idx="5">
                  <c:v>28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node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863840" y="36576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1488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 Cultural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3063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et découvrir la vie culturelle pertinente dans la région parisienne à partir des données Instagram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Merchán Medina   ·   Sorbonne Data Analytics   ·   Promotion 2025 –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inst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vie culturelle est dispersée, pas invisible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vie culturelle latino-américaine, et plus largement en région parisienne, se répartit sur des centaines de comptes Instagram — associations, lieux indépendants, attachés culturels.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lisible surtout par ceux qui suivent déjà les bons comptes — invisible pour presque tout le monde d'autre.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mémoire pose la question : cette structure peut-elle être cartographiée, analysée et rendue découvrable 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310896" cy="310896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7" name="Shape 4"/>
          <p:cNvSpPr/>
          <p:nvPr/>
        </p:nvSpPr>
        <p:spPr>
          <a:xfrm>
            <a:off x="8503920" y="12801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5"/>
          <p:cNvSpPr/>
          <p:nvPr/>
        </p:nvSpPr>
        <p:spPr>
          <a:xfrm>
            <a:off x="9692640" y="1828800"/>
            <a:ext cx="384048" cy="38404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9" name="Shape 6"/>
          <p:cNvSpPr/>
          <p:nvPr/>
        </p:nvSpPr>
        <p:spPr>
          <a:xfrm>
            <a:off x="7863840" y="2468880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7"/>
          <p:cNvSpPr/>
          <p:nvPr/>
        </p:nvSpPr>
        <p:spPr>
          <a:xfrm>
            <a:off x="10424160" y="1371600"/>
            <a:ext cx="256032" cy="256032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0" y="2834640"/>
            <a:ext cx="292608" cy="29260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12" name="Shape 9"/>
          <p:cNvSpPr/>
          <p:nvPr/>
        </p:nvSpPr>
        <p:spPr>
          <a:xfrm>
            <a:off x="7498080" y="3291840"/>
            <a:ext cx="182880" cy="18288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98480" y="2743200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Shape 11"/>
          <p:cNvSpPr/>
          <p:nvPr/>
        </p:nvSpPr>
        <p:spPr>
          <a:xfrm>
            <a:off x="8595360" y="3840480"/>
            <a:ext cx="365760" cy="36576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5" name="Shape 12"/>
          <p:cNvSpPr/>
          <p:nvPr/>
        </p:nvSpPr>
        <p:spPr>
          <a:xfrm>
            <a:off x="9966960" y="4023360"/>
            <a:ext cx="201168" cy="20116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16" name="Shape 13"/>
          <p:cNvSpPr/>
          <p:nvPr/>
        </p:nvSpPr>
        <p:spPr>
          <a:xfrm>
            <a:off x="7955280" y="457200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4"/>
          <p:cNvSpPr/>
          <p:nvPr/>
        </p:nvSpPr>
        <p:spPr>
          <a:xfrm>
            <a:off x="10972800" y="4480560"/>
            <a:ext cx="274320" cy="27432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8" name="Shape 15"/>
          <p:cNvSpPr/>
          <p:nvPr/>
        </p:nvSpPr>
        <p:spPr>
          <a:xfrm>
            <a:off x="9052560" y="5120640"/>
            <a:ext cx="201168" cy="20116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19" name="Shape 16"/>
          <p:cNvSpPr/>
          <p:nvPr/>
        </p:nvSpPr>
        <p:spPr>
          <a:xfrm>
            <a:off x="10241280" y="5394960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centaines de comptes. Aucune carte commune.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inst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: profils et publications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1_harvest_ig_profiles.py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2240280"/>
            <a:ext cx="4709160" cy="1600200"/>
          </a:xfrm>
          <a:prstGeom prst="roundRect">
            <a:avLst>
              <a:gd name="adj" fmla="val 3429"/>
            </a:avLst>
          </a:prstGeom>
          <a:solidFill>
            <a:srgbClr val="1B1F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350008"/>
            <a:ext cx="43434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ACTOR_ID = "apify/instagram-profile-scraper"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= client.actor(ACTOR_ID).call(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run_input={"usernames": [username],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"resultsType": "details"}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77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data_raw/profile_&lt;user&gt;.json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0DCD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3796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1_harvest_ig_posts.py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37960" y="2240280"/>
            <a:ext cx="4709160" cy="1600200"/>
          </a:xfrm>
          <a:prstGeom prst="roundRect">
            <a:avLst>
              <a:gd name="adj" fmla="val 3429"/>
            </a:avLst>
          </a:prstGeom>
          <a:solidFill>
            <a:srgbClr val="1B1F3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20840" y="2350008"/>
            <a:ext cx="43434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ACTOR_ID = "apify/instagram-post-scraper"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run_input =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"username": [username], "resultsLimit": 50,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"onlyPostsNewerThan": f"{days} days",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977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data_raw/posts_&lt;user&gt;.json (fenêtre dynamique par compte)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liste de comptes (fichiers seeds JSON)   ·   Coût estimé et confirmé avant chaque exécution   ·   Idempotent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du graphe (Neo4j)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7190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Nœuds créés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1031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:Account · :Post · :Hashtag · :Location · :Track · :Comment · :IgtvVideo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0DCD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37960" y="17190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 créées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1031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· HAS_HASHTAG · MENTIONS · TAGS_USER · COAUTHORED_BY · LOCATED_AT · RELATED_TO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38328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1B1F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493008"/>
            <a:ext cx="105156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(a:Account {username: $username})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CREATE SET a.firstSeenAt = datetime()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a.lastUpdatedAt = datetime(),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a.followersCount = $followersCount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(a)-[:PUBLISHED]-&gt;(p:Post {id: $id})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(p)-[:HAS_HASHTAG]-&gt;(h:Hashtag {name: $tag})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JSON de data_raw/   ·   Sortie : graphe Neo4j (MERGE — jamais de doublon en re-exécutant)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réseau (igraph / leidenalg)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8013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24028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exact — importance dans le réseau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exact — position de pont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Leiden (γ=0.5/1.0/1.5) — détection de communautés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k-core, participation coefficient, E-I index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394960" cy="3017520"/>
          </a:xfrm>
          <a:prstGeom prst="roundRect">
            <a:avLst>
              <a:gd name="adj" fmla="val 1818"/>
            </a:avLst>
          </a:prstGeom>
          <a:solidFill>
            <a:srgbClr val="1B1F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63640" y="1709928"/>
            <a:ext cx="50292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pagerank    = g.pagerank(damping=0.85,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weights="weight")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betweenness = g.betweenness(directed=True)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= la.find_partition(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g_und, la.RBConfigurationVertexPartition,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resolution_parameter=gamma, seed=42,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graphe exporté en CSV   ·   Sortie : métriques réécrites sur :Account   ·   100% local — pas de plugin GDS, pas de dépendance réseau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57200" cy="4572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w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0233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d'événements : 3 couches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3538728" cy="1874520"/>
          </a:xfrm>
          <a:prstGeom prst="roundRect">
            <a:avLst>
              <a:gd name="adj" fmla="val 3902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13716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1" descr="icons/magn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49230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33502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1 — Filtre sémantique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19659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3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paraphrase-multilingual-MiniLM-L12-v2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3317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cosinus contre ~100 phrases de référence — plus proche voisin, un filtre de coût.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453128" y="1188720"/>
            <a:ext cx="3538728" cy="1874520"/>
          </a:xfrm>
          <a:prstGeom prst="roundRect">
            <a:avLst>
              <a:gd name="adj" fmla="val 3902"/>
            </a:avLst>
          </a:prstGeom>
          <a:solidFill>
            <a:srgbClr val="F0DCD3"/>
          </a:solidFill>
          <a:ln/>
        </p:spPr>
      </p:sp>
      <p:sp>
        <p:nvSpPr>
          <p:cNvPr id="12" name="Shape 8"/>
          <p:cNvSpPr/>
          <p:nvPr/>
        </p:nvSpPr>
        <p:spPr>
          <a:xfrm>
            <a:off x="4681728" y="137160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3" name="Image 2" descr="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429" y="149230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21808" y="133502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2 — Est-ce un événement ?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681728" y="19659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3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multilingual-MiniLMv2-L6-mnli-xnli (NLI)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681728" y="23317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logique : le texte implique-t-il l'hypothèse « ceci annonce un événement » ? Relation dirigée, pas une distance.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66176" y="1188720"/>
            <a:ext cx="3538728" cy="1874520"/>
          </a:xfrm>
          <a:prstGeom prst="roundRect">
            <a:avLst>
              <a:gd name="adj" fmla="val 3902"/>
            </a:avLst>
          </a:prstGeom>
          <a:solidFill>
            <a:srgbClr val="EDEDED"/>
          </a:solidFill>
          <a:ln/>
        </p:spPr>
      </p:sp>
      <p:sp>
        <p:nvSpPr>
          <p:cNvPr id="18" name="Shape 13"/>
          <p:cNvSpPr/>
          <p:nvPr/>
        </p:nvSpPr>
        <p:spPr>
          <a:xfrm>
            <a:off x="8494776" y="13716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9" name="Image 3" descr="icons/w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477" y="14923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34856" y="133502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3 — Extraction LLM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494776" y="19659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3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· Groq · Google · Cerebras · DeepSeek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8494776" y="23317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titre, date, lieu, type — et décide si l'événement est créé ou non.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40080" y="3246120"/>
            <a:ext cx="11164824" cy="868680"/>
          </a:xfrm>
          <a:prstGeom prst="roundRect">
            <a:avLst>
              <a:gd name="adj" fmla="val 7368"/>
            </a:avLst>
          </a:prstGeom>
          <a:solidFill>
            <a:srgbClr val="1B1F3B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914400" y="3319272"/>
            <a:ext cx="1061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clé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couches utilisent des embeddings, mais autrement — la Couche 1 mesure une proximité sémantique (plus proche voisin) ; la Couche 2 mesure une implication logique dirigée (entailment) entre le texte et une hypothèse, une classification et non une distance.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sortie JSON (Couche 3)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40080" y="4572000"/>
            <a:ext cx="11164824" cy="1417320"/>
          </a:xfrm>
          <a:prstGeom prst="roundRect">
            <a:avLst>
              <a:gd name="adj" fmla="val 3871"/>
            </a:avLst>
          </a:prstGeom>
          <a:solidFill>
            <a:srgbClr val="1B1F3B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681728"/>
            <a:ext cx="107990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"is_public_invitation": true, "is_upcoming": true,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"musical", "clean_date": "2026-09-15",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"city": "Paris", "title": "Concert de jazz au 104",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"title_fr": "Concert de jazz au 104",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"price_range": "gratuit"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6080760"/>
            <a:ext cx="1116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Ensuite, 4_enrich_events_resolve.py fusionne les doublons par similarité d'embedding (Couche 1) — sans nouvel appel au LLM.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map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Géocodification (Nominatim)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801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Entrée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148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lieu + indice de ville — extrait par le LLM à la Couche 3, pas une valeur fixe.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2971800"/>
            <a:ext cx="4709160" cy="1463040"/>
          </a:xfrm>
          <a:prstGeom prst="roundRect">
            <a:avLst>
              <a:gd name="adj" fmla="val 3750"/>
            </a:avLst>
          </a:prstGeom>
          <a:solidFill>
            <a:srgbClr val="1B1F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3081528"/>
            <a:ext cx="4343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geocoder.geocode(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f"{name}, {city_hint}",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addressdetails=True,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0DCD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37960" y="1801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37960" y="2148840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20840" y="22585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"lat": 48.8583, "lon": 2.3470,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"city": "Paris", "country": "France",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"arrondissement": "Paris 1er"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6576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géocodification échoue : lat/lon = null — jamais une coordonnée inventée.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l'export : review_events.py (Streamlit) — Diego approuve, modifie ou rejette chaque événement à la main.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 : export + pages SEO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5_export_dashboard_data.py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→ site/data.json — le seul fichier dont le site statique a besoin, sans backend.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2834640"/>
            <a:ext cx="4709160" cy="1600200"/>
          </a:xfrm>
          <a:prstGeom prst="roundRect">
            <a:avLst>
              <a:gd name="adj" fmla="val 3429"/>
            </a:avLst>
          </a:prstGeom>
          <a:solidFill>
            <a:srgbClr val="1B1F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2944368"/>
            <a:ext cx="43434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'Rejected' IN labels(e)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NOT 'PendingReview' IN labels(e)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e.isPublicInvitation = true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e.isUpcoming = true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0DCD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3796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6_generate_seo_pages.py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21945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data.json → pages HTML statiques + JSON-LD (schema.org Event) — car GPTBot/ClaudeBot n'exécutent pas JavaScript.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32004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catégorie sans assez d'événements n'a pas de page — contenu "pauvre" évité par conception (--min-events).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: cd site &amp;&amp; npx wrangler deploy — la seule façon de vraiment publier sur le site en ligne.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use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058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Décider en qui faire confiance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6B6B6B"/>
          </a:solidFill>
          <a:ln/>
        </p:spPr>
      </p:sp>
      <p:pic>
        <p:nvPicPr>
          <p:cNvPr id="7" name="Image 1" descr="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" y="221101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1214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Classificateur automatique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880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10%</a:t>
            </a:r>
            <a:endParaRPr lang="en-US" sz="52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94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comptes sélectionnés étaient réellement pertinents culturellement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73736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F0DCD3"/>
          </a:solidFill>
          <a:ln/>
        </p:spPr>
      </p:sp>
      <p:sp>
        <p:nvSpPr>
          <p:cNvPr id="12" name="Shape 8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3" name="Image 2" descr="icons/user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579" y="221101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60920" y="21214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Curation humaine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2880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349</a:t>
            </a:r>
            <a:endParaRPr lang="en-US" sz="520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3794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curés à la main — le signal de confiance du corpus aujourd'hui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709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Mesuré, pas supposé : le changement vient de la comparaison réelle de l'alternative — chaque décision journalisée en temps réel.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Mesurer le pipeline, pas lui faire confiance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691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pPr indent="0" marL="0">
              <a:buNone/>
            </a:pPr>
            <a:r>
              <a:rPr lang="en-US" sz="28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4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96.7%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avec la révision humaine, sur 3 cycles en aveugle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91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pPr indent="0" marL="0">
              <a:buNone/>
            </a:pPr>
            <a:r>
              <a:rPr lang="en-US" sz="28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4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sur un échantillon aléatoire, mêmes 3 cycles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1B1F3B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3776472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" y="39300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685032"/>
            <a:ext cx="9418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 chiffre principal ne dit pas tout.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examen ciblé des vingt événements institutionnels les mieux notés — la tranche qu'un produit de découverte montre réellement aux visiteurs — en a trouvé douze sur vingt problématiques.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058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catalogue aujourd'hui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751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publiés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66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349</a:t>
            </a:r>
            <a:endParaRPr lang="en-US" sz="5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curés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486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Instantané, 2026-08-28 — le graphe continue de croître.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394960" y="1600200"/>
          <a:ext cx="6172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875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outil public et bilingue de découverte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7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17627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993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comptes, ni données personnelles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statique, sans backend, sans suivi des utilisateurs.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7373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201168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2" descr="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17627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06640" y="1993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Bilingue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740664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Espagnol et français, événement par événement.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16" name="Shape 11"/>
          <p:cNvSpPr/>
          <p:nvPr/>
        </p:nvSpPr>
        <p:spPr>
          <a:xfrm>
            <a:off x="914400" y="416052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7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325112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83080" y="4142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Révisé par un humain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783080" y="4754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événement est mis en attente puis approuvé avant publication.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21" name="Shape 15"/>
          <p:cNvSpPr/>
          <p:nvPr/>
        </p:nvSpPr>
        <p:spPr>
          <a:xfrm>
            <a:off x="6537960" y="416052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2" name="Image 4" descr="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432511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06640" y="4142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Classé et retiré</a:t>
            </a:r>
            <a:endParaRPr lang="en-US" sz="1550" dirty="0"/>
          </a:p>
        </p:txBody>
      </p:sp>
      <p:sp>
        <p:nvSpPr>
          <p:cNvPr id="24" name="Text 17"/>
          <p:cNvSpPr txBox="1"/>
          <p:nvPr/>
        </p:nvSpPr>
        <p:spPr>
          <a:xfrm>
            <a:off x="7406640" y="4754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classement de pertinence et une fenêtre de rétention glissante maintiennent le site à jour.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hub-cultural-du.diegomerchanm.workers.dev</a:t>
            </a:r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github.com/diegomerchanm/hub-cultural-du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 où ce n'est pas fiable — documenté, pas caché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1" descr="icons/inst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1919143"/>
            <a:ext cx="294803" cy="2948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7556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unique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617720" y="1755648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organisations qui communiquent ailleurs restent structurellement invisibles.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3464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0" name="Image 2" descr="icons/maploc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297070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28072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Géographie imparfaite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4617720" y="2807208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la moitié des événements n'ont pas de localisation résolue à un instant donné.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3" descr="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022263"/>
            <a:ext cx="294803" cy="29480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38587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Échecs silencieux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4617720" y="3858768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géocodification, les dates et la classification LLM peuvent échouer sans signaler une faible confiance.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40080" y="493776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8" name="Image 4" descr="icons/sc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073823"/>
            <a:ext cx="294803" cy="29480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49103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juge, pas un consensus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4617720" y="4910328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mesure l'accord avec un seul annotateur — et la curation ne passe pas à l'échelle au-delà de ce qu'une personne peut réviser.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058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 mémoire apporte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538728" cy="3840480"/>
          </a:xfrm>
          <a:prstGeom prst="roundRect">
            <a:avLst>
              <a:gd name="adj" fmla="val 2067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2020824" y="214884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362" y="2335378"/>
            <a:ext cx="404165" cy="4041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320040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Méthodologique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794760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curation comme alternative documentée, non supposée, au score automatique — et un protocole d'évaluation en aveugle qui a mesurablement motivé trois refontes du pipeline.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453128" y="1783080"/>
            <a:ext cx="3538728" cy="3840480"/>
          </a:xfrm>
          <a:prstGeom prst="roundRect">
            <a:avLst>
              <a:gd name="adj" fmla="val 2067"/>
            </a:avLst>
          </a:prstGeom>
          <a:solidFill>
            <a:srgbClr val="F0DCD3"/>
          </a:solidFill>
          <a:ln/>
        </p:spPr>
      </p:sp>
      <p:sp>
        <p:nvSpPr>
          <p:cNvPr id="11" name="Shape 7"/>
          <p:cNvSpPr/>
          <p:nvPr/>
        </p:nvSpPr>
        <p:spPr>
          <a:xfrm>
            <a:off x="5833872" y="2148840"/>
            <a:ext cx="777240" cy="77724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410" y="233537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81728" y="320040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Empirique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727448" y="3794760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catégorisé et un catalogue croissant et de plus en plus précis — 751 événements au moment de la rédaction.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66176" y="1783080"/>
            <a:ext cx="3538728" cy="3840480"/>
          </a:xfrm>
          <a:prstGeom prst="roundRect">
            <a:avLst>
              <a:gd name="adj" fmla="val 2067"/>
            </a:avLst>
          </a:prstGeom>
          <a:solidFill>
            <a:srgbClr val="EDEDED"/>
          </a:solidFill>
          <a:ln/>
        </p:spPr>
      </p:sp>
      <p:sp>
        <p:nvSpPr>
          <p:cNvPr id="16" name="Shape 11"/>
          <p:cNvSpPr/>
          <p:nvPr/>
        </p:nvSpPr>
        <p:spPr>
          <a:xfrm>
            <a:off x="9646920" y="214884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7" name="Image 3" descr="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458" y="233537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94776" y="320040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Appliquée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540496" y="3794760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vivant, déployé, utilisable aujourd'hui par la communauté qu'il décrit.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node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1097280" y="219456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0" y="4937760"/>
            <a:ext cx="457200" cy="457200"/>
          </a:xfrm>
          <a:prstGeom prst="ellipse">
            <a:avLst/>
          </a:prstGeom>
          <a:solidFill>
            <a:srgbClr val="2A2F5C"/>
          </a:solidFill>
          <a:ln/>
        </p:spPr>
      </p:sp>
      <p:pic>
        <p:nvPicPr>
          <p:cNvPr id="6" name="Image 1" descr="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50474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337560" y="4937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hub-cultural-du.diegomerchanm.workers.dev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0" y="5577840"/>
            <a:ext cx="457200" cy="457200"/>
          </a:xfrm>
          <a:prstGeom prst="ellipse">
            <a:avLst/>
          </a:prstGeom>
          <a:solidFill>
            <a:srgbClr val="2A2F5C"/>
          </a:solidFill>
          <a:ln/>
        </p:spPr>
      </p:sp>
      <p:pic>
        <p:nvPicPr>
          <p:cNvPr id="9" name="Image 2" descr="icons/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8" y="568756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337560" y="5577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github.com/diegomerchanm/hub-cultural-du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2743200" y="6217920"/>
            <a:ext cx="457200" cy="457200"/>
          </a:xfrm>
          <a:prstGeom prst="ellipse">
            <a:avLst/>
          </a:prstGeom>
          <a:solidFill>
            <a:srgbClr val="2A2F5C"/>
          </a:solidFill>
          <a:ln/>
        </p:spPr>
      </p:sp>
      <p:pic>
        <p:nvPicPr>
          <p:cNvPr id="12" name="Image 3" descr="icons/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632764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337560" y="6217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diegomerchanm@gmail.com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2026-09-06T10:48:55Z</dcterms:created>
  <dcterms:modified xsi:type="dcterms:W3CDTF">2026-09-06T10:48:55Z</dcterms:modified>
</cp:coreProperties>
</file>