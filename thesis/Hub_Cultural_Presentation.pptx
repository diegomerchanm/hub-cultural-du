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F3B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B1F3B"/>
                </a:solidFill>
                <a:latin typeface="Cambria"/>
              </a:rPr>
              <a:t>Event categories (% of catalogue)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catalogue</c:v>
                </c:pt>
              </c:strCache>
            </c:strRef>
          </c:tx>
          <c:spPr>
            <a:solidFill>
              <a:srgbClr val="C15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Gastronomy</c:v>
                  </c:pt>
                  <c:pt idx="1">
                    <c:v>Institutional</c:v>
                  </c:pt>
                  <c:pt idx="2">
                    <c:v>Visual arts</c:v>
                  </c:pt>
                  <c:pt idx="3">
                    <c:v>Training &amp; workshops</c:v>
                  </c:pt>
                  <c:pt idx="4">
                    <c:v>Community events</c:v>
                  </c:pt>
                  <c:pt idx="5">
                    <c:v>Music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17.6</c:v>
                </c:pt>
                <c:pt idx="2">
                  <c:v>11.6</c:v>
                </c:pt>
                <c:pt idx="3">
                  <c:v>9.9</c:v>
                </c:pt>
                <c:pt idx="4">
                  <c:v>7.6</c:v>
                </c:pt>
                <c:pt idx="5">
                  <c:v>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626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63840" y="3657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21488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 Cultural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3063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F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and Discovering Culturally-Relevant Life in the Paris Region through Instagram Data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Merchán Medina   ·   Sorbonne Data Analytics   ·   Promotion 2025 –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inst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Life Is Scattered, Not Lost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American and broader cultural life in the Paris region lives across hundreds of Instagram accounts — associations, independent venues, cultural attachés.</a:t>
            </a:r>
            <a:endParaRPr lang="en-US" sz="16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legible mainly to whoever already follows the right accounts — invisible to almost everyone else.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600" i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asks: can that structure be mapped, analyzed, and made discoverable?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06640" y="1554480"/>
            <a:ext cx="310896" cy="310896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7" name="Shape 4"/>
          <p:cNvSpPr/>
          <p:nvPr/>
        </p:nvSpPr>
        <p:spPr>
          <a:xfrm>
            <a:off x="8503920" y="12801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Shape 5"/>
          <p:cNvSpPr/>
          <p:nvPr/>
        </p:nvSpPr>
        <p:spPr>
          <a:xfrm>
            <a:off x="9692640" y="1828800"/>
            <a:ext cx="384048" cy="38404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0" y="246888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Shape 7"/>
          <p:cNvSpPr/>
          <p:nvPr/>
        </p:nvSpPr>
        <p:spPr>
          <a:xfrm>
            <a:off x="10424160" y="1371600"/>
            <a:ext cx="256032" cy="256032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0" y="2834640"/>
            <a:ext cx="292608" cy="29260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0" y="3291840"/>
            <a:ext cx="182880" cy="18288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10698480" y="2743200"/>
            <a:ext cx="219456" cy="21945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Shape 11"/>
          <p:cNvSpPr/>
          <p:nvPr/>
        </p:nvSpPr>
        <p:spPr>
          <a:xfrm>
            <a:off x="8595360" y="3840480"/>
            <a:ext cx="365760" cy="36576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5" name="Shape 12"/>
          <p:cNvSpPr/>
          <p:nvPr/>
        </p:nvSpPr>
        <p:spPr>
          <a:xfrm>
            <a:off x="9966960" y="402336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6" name="Shape 13"/>
          <p:cNvSpPr/>
          <p:nvPr/>
        </p:nvSpPr>
        <p:spPr>
          <a:xfrm>
            <a:off x="7955280" y="4572000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0972800" y="4480560"/>
            <a:ext cx="274320" cy="274320"/>
          </a:xfrm>
          <a:prstGeom prst="ellipse">
            <a:avLst/>
          </a:prstGeom>
          <a:solidFill>
            <a:srgbClr val="C150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052560" y="5120640"/>
            <a:ext cx="201168" cy="201168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0" y="5394960"/>
            <a:ext cx="237744" cy="23774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accounts. No shared map.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 That Grew With the Data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EDED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965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STARTED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377440"/>
            <a:ext cx="4434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from the Colombian consulate in Paris, grown outward through automatic follower discovery. Organized around one question: is this part of the Latin American diaspora?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074920" cy="3063240"/>
          </a:xfrm>
          <a:prstGeom prst="roundRect">
            <a:avLst>
              <a:gd name="adj" fmla="val 2388"/>
            </a:avLst>
          </a:prstGeom>
          <a:solidFill>
            <a:srgbClr val="F0DCD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0" y="19659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LANDED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377440"/>
            <a:ext cx="4434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best-connected cultural accounts turned out to be French institutions and mixed venues — unmistakably the same ecosystem. The criterion shifted from nationality to cultural relevance.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1B1F3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50749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 wasn't just in scope — it was in the instrument.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and French accounts lost real events at 12.9% vs. 4.3% for Colombian/Latin ones, on captions a human reader found unambiguous.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End to End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051560" cy="10515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6" name="Image 1" descr="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454" y="2995574"/>
            <a:ext cx="546811" cy="54681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417320" y="2560320"/>
            <a:ext cx="384048" cy="38404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4173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320040" y="3959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716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&amp; posts via Apify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2223135" y="3049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3120390" y="2743200"/>
            <a:ext cx="1051560" cy="10515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3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764" y="2995574"/>
            <a:ext cx="546811" cy="54681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97630" y="2560320"/>
            <a:ext cx="384048" cy="38404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89763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2800350" y="3959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61747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into a Neo4j graph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4703445" y="3049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5600700" y="2743200"/>
            <a:ext cx="1051560" cy="10515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0" name="Image 3" descr="icons/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74" y="2995574"/>
            <a:ext cx="546811" cy="54681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77940" y="2560320"/>
            <a:ext cx="384048" cy="38404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3779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5280660" y="3959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09778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event detection</a:t>
            </a:r>
            <a:endParaRPr lang="en-US" sz="1150" dirty="0"/>
          </a:p>
        </p:txBody>
      </p:sp>
      <p:sp>
        <p:nvSpPr>
          <p:cNvPr id="25" name="Text 19"/>
          <p:cNvSpPr txBox="1"/>
          <p:nvPr/>
        </p:nvSpPr>
        <p:spPr>
          <a:xfrm>
            <a:off x="7183755" y="3049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8081010" y="2743200"/>
            <a:ext cx="1051560" cy="10515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27" name="Image 4" descr="icons/user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3384" y="2995574"/>
            <a:ext cx="546811" cy="546811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8858250" y="2560320"/>
            <a:ext cx="384048" cy="38404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85825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760970" y="3959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Curate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57809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&amp; staging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9664065" y="3049524"/>
            <a:ext cx="365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Shape 26"/>
          <p:cNvSpPr/>
          <p:nvPr/>
        </p:nvSpPr>
        <p:spPr>
          <a:xfrm>
            <a:off x="10561320" y="2743200"/>
            <a:ext cx="1051560" cy="105156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4" name="Image 5" descr="icons/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3694" y="2995574"/>
            <a:ext cx="546811" cy="546811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1338560" y="2560320"/>
            <a:ext cx="384048" cy="384048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1133856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10241280" y="39593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10058400" y="429768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bilingual site</a:t>
            </a:r>
            <a:endParaRPr lang="en-US" sz="115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keeps a run log and a decision log, so a published event is traceable back to the run that produced it.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Deciding What to Trust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6B6B6B"/>
          </a:solidFill>
          <a:ln/>
        </p:spPr>
      </p:sp>
      <p:pic>
        <p:nvPicPr>
          <p:cNvPr id="7" name="Image 1" descr="icons/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221101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classifier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2880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10%</a:t>
            </a:r>
            <a:endParaRPr lang="en-US" sz="5200" dirty="0"/>
          </a:p>
        </p:txBody>
      </p:sp>
      <p:sp>
        <p:nvSpPr>
          <p:cNvPr id="10" name="Text 6"/>
          <p:cNvSpPr txBox="1"/>
          <p:nvPr/>
        </p:nvSpPr>
        <p:spPr>
          <a:xfrm>
            <a:off x="91440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selected accounts were actually culturally valuable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5212080" cy="2651760"/>
          </a:xfrm>
          <a:prstGeom prst="roundRect">
            <a:avLst>
              <a:gd name="adj" fmla="val 2759"/>
            </a:avLst>
          </a:prstGeom>
          <a:solidFill>
            <a:srgbClr val="F0DCD3"/>
          </a:solidFill>
          <a:ln/>
        </p:spPr>
      </p:sp>
      <p:sp>
        <p:nvSpPr>
          <p:cNvPr id="12" name="Shape 8"/>
          <p:cNvSpPr/>
          <p:nvPr/>
        </p:nvSpPr>
        <p:spPr>
          <a:xfrm>
            <a:off x="6537960" y="2057400"/>
            <a:ext cx="640080" cy="64008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3" name="Image 2" descr="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22110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21214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curation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80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5200" dirty="0"/>
          </a:p>
        </p:txBody>
      </p:sp>
      <p:sp>
        <p:nvSpPr>
          <p:cNvPr id="16" name="Text 11"/>
          <p:cNvSpPr txBox="1"/>
          <p:nvPr/>
        </p:nvSpPr>
        <p:spPr>
          <a:xfrm>
            <a:off x="6492240" y="3794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curated by hand — the trust signal the corpus relies on today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7091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assumed: the pivot came from comparing the alternative — with every decision behind it logged in real time.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Detection: Three Layers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2020824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magn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62" y="233537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20040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Semantic filtering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88620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captions, compares against ~100 reference phrases across three languages — a cost filter, not the final say.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53128" y="17830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F0DCD3"/>
          </a:solidFill>
          <a:ln/>
        </p:spPr>
      </p:sp>
      <p:sp>
        <p:nvSpPr>
          <p:cNvPr id="11" name="Shape 7"/>
          <p:cNvSpPr/>
          <p:nvPr/>
        </p:nvSpPr>
        <p:spPr>
          <a:xfrm>
            <a:off x="5833872" y="2148840"/>
            <a:ext cx="777240" cy="77724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410" y="233537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81728" y="320040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Is this even an event?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4727448" y="388620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multilingual NLI classifier decides — in the caption's own detected language, not a fixed one.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66176" y="1783080"/>
            <a:ext cx="3538728" cy="393192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646920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3" descr="icons/w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233537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94776" y="3200400"/>
            <a:ext cx="3081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Extract, type &amp; gate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8540496" y="3886200"/>
            <a:ext cx="299008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extracts title, date, location, type — and blocks the event entirely unless it's a real, upcoming public invitation.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the Pipeline, Not Trusting It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human review, across 3 blind rounds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pPr indent="0" marL="0">
              <a:buNone/>
            </a:pPr>
            <a:r>
              <a:rPr lang="en-US" sz="2800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a random sample, same 3 rounds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960120" y="3776472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" y="393009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685032"/>
            <a:ext cx="9418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headline number isn't the whole story. 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review of the twenty highest-scoring institutional events — the slice a discovery product actually surfaces to visitors — found twelve of twenty still problematic.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Catalogue Today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751</a:t>
            </a:r>
            <a:endParaRPr lang="en-US" sz="5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published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66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349</a:t>
            </a:r>
            <a:endParaRPr lang="en-US" sz="5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accounts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486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Snapshot, 2026-08-28 — the graph keeps growing.</a:t>
            </a:r>
            <a:endParaRPr lang="en-US" sz="11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394960" y="1600200"/>
          <a:ext cx="6172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Public, Bilingual Discovery Tool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7" name="Image 1" descr="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1762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accounts, no personal data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site, no backend, no user tracking.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3736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201168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2176272"/>
            <a:ext cx="356616" cy="35661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06640" y="19933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40664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and French, event by event.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7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325112"/>
            <a:ext cx="356616" cy="35661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Human-reviewed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staged and approved before going live.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8862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/>
        </p:spPr>
      </p:sp>
      <p:sp>
        <p:nvSpPr>
          <p:cNvPr id="21" name="Shape 15"/>
          <p:cNvSpPr/>
          <p:nvPr/>
        </p:nvSpPr>
        <p:spPr>
          <a:xfrm>
            <a:off x="6537960" y="4160520"/>
            <a:ext cx="685800" cy="68580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22" name="Image 4" descr="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432511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406640" y="41422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&amp; retired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7406640" y="4754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relevance ranking plus a rolling retention window keep it current.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1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hub-cultural-du.diegomerchanm.workers.dev</a:t>
            </a:r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github.com/diegomerchanm/hub-cultural-du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10515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It's Not Reliable — By Design, Reported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1" descr="icons/inst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1919143"/>
            <a:ext cx="294803" cy="29480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7556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platform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4434840" y="175564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announce elsewhere are structurally invisible.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0" name="Image 2" descr="icons/maplo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2970703"/>
            <a:ext cx="294803" cy="29480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8072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Imperfect geography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4434840" y="280720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of events lack a resolved map location at any given time.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4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022263"/>
            <a:ext cx="294803" cy="29480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85876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failures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4434840" y="385876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Geocoding, dates and LLM classification can fail without flagging low confidence.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40080" y="4937760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8" name="Image 4" descr="icons/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5073823"/>
            <a:ext cx="294803" cy="29480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491032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1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judge, not consensus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4434840" y="491032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measures agreement with a single annotator — and curation doesn't scale past what one person can review.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3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48056"/>
            <a:ext cx="96012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Thesis Contributes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6" name="Shape 3"/>
          <p:cNvSpPr/>
          <p:nvPr/>
        </p:nvSpPr>
        <p:spPr>
          <a:xfrm>
            <a:off x="2020824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7" name="Image 1" descr="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362" y="2335378"/>
            <a:ext cx="404165" cy="40416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Methodological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 as an evidenced, not assumed, alternative to automated scoring — and a blind-evaluation protocol that measurably drove three pipeline redesigns.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53128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F0DCD3"/>
          </a:solidFill>
          <a:ln/>
        </p:spPr>
      </p:sp>
      <p:sp>
        <p:nvSpPr>
          <p:cNvPr id="11" name="Shape 7"/>
          <p:cNvSpPr/>
          <p:nvPr/>
        </p:nvSpPr>
        <p:spPr>
          <a:xfrm>
            <a:off x="5833872" y="2148840"/>
            <a:ext cx="777240" cy="777240"/>
          </a:xfrm>
          <a:prstGeom prst="ellipse">
            <a:avLst/>
          </a:prstGeom>
          <a:solidFill>
            <a:srgbClr val="C1502E"/>
          </a:solidFill>
          <a:ln/>
        </p:spPr>
      </p:sp>
      <p:pic>
        <p:nvPicPr>
          <p:cNvPr id="12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410" y="2335378"/>
            <a:ext cx="404165" cy="40416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81728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Empirical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727448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categorised network and a growing, increasingly accurate catalogue — 751 events at the time of writing.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266176" y="1783080"/>
            <a:ext cx="3538728" cy="3840480"/>
          </a:xfrm>
          <a:prstGeom prst="roundRect">
            <a:avLst>
              <a:gd name="adj" fmla="val 2067"/>
            </a:avLst>
          </a:prstGeom>
          <a:solidFill>
            <a:srgbClr val="EDEDED"/>
          </a:solidFill>
          <a:ln/>
        </p:spPr>
      </p:sp>
      <p:sp>
        <p:nvSpPr>
          <p:cNvPr id="16" name="Shape 11"/>
          <p:cNvSpPr/>
          <p:nvPr/>
        </p:nvSpPr>
        <p:spPr>
          <a:xfrm>
            <a:off x="9646920" y="2148840"/>
            <a:ext cx="777240" cy="77724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7" name="Image 3" descr="icon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3458" y="2335378"/>
            <a:ext cx="404165" cy="40416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94776" y="3200400"/>
            <a:ext cx="3081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8540496" y="3794760"/>
            <a:ext cx="2990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deployed tool, usable today by the community it describes.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node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1097280" y="219456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0" y="493776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6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5047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4937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hub-cultural-du.diegomerchanm.workers.dev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743200" y="557784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9" name="Image 2" descr="icons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8" y="568756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33756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github.com/diegomerchanm/hub-cultural-du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2743200" y="6217920"/>
            <a:ext cx="457200" cy="457200"/>
          </a:xfrm>
          <a:prstGeom prst="ellipse">
            <a:avLst/>
          </a:prstGeom>
          <a:solidFill>
            <a:srgbClr val="2A2F5C"/>
          </a:solidFill>
          <a:ln/>
        </p:spPr>
      </p:sp>
      <p:pic>
        <p:nvPicPr>
          <p:cNvPr id="12" name="Image 3" descr="icons/envel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6327648"/>
            <a:ext cx="237744" cy="2377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337560" y="6217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diegomerchanm@gmail.com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2026-09-01T13:29:37Z</dcterms:created>
  <dcterms:modified xsi:type="dcterms:W3CDTF">2026-09-01T13:29:37Z</dcterms:modified>
</cp:coreProperties>
</file>